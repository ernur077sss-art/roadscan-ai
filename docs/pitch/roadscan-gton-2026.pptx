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250b49c8164457" /><Relationship Type="http://schemas.openxmlformats.org/officeDocument/2006/relationships/extended-properties" Target="/docProps/app.xml" Id="R60899af127204b7b" /><Relationship Type="http://schemas.openxmlformats.org/officeDocument/2006/relationships/officeDocument" Target="/ppt/presentation.xml" Id="Rf87c4dd52c5a49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9c00977b8c48ac"/>
  </p:sldMasterIdLst>
  <p:notesMasterIdLst>
    <p:notesMasterId xmlns:r="http://schemas.openxmlformats.org/officeDocument/2006/relationships" r:id="Rd4b80bed300347ce"/>
  </p:notesMasterIdLst>
  <p:sldIdLst>
    <p:sldId xmlns:r="http://schemas.openxmlformats.org/officeDocument/2006/relationships" id="256" r:id="R9bbed7bee6d34e45"/>
    <p:sldId xmlns:r="http://schemas.openxmlformats.org/officeDocument/2006/relationships" id="257" r:id="Rb49e1de019d0429c"/>
    <p:sldId xmlns:r="http://schemas.openxmlformats.org/officeDocument/2006/relationships" id="258" r:id="R00f816b430cb4a93"/>
    <p:sldId xmlns:r="http://schemas.openxmlformats.org/officeDocument/2006/relationships" id="259" r:id="R4fd2518be25948ab"/>
    <p:sldId xmlns:r="http://schemas.openxmlformats.org/officeDocument/2006/relationships" id="260" r:id="R55cf15ff6bf34360"/>
    <p:sldId xmlns:r="http://schemas.openxmlformats.org/officeDocument/2006/relationships" id="261" r:id="R727d4b3147214618"/>
    <p:sldId xmlns:r="http://schemas.openxmlformats.org/officeDocument/2006/relationships" id="262" r:id="R4f4f6ac534e1412c"/>
    <p:sldId xmlns:r="http://schemas.openxmlformats.org/officeDocument/2006/relationships" id="263" r:id="Rf78444a4d0284586"/>
    <p:sldId xmlns:r="http://schemas.openxmlformats.org/officeDocument/2006/relationships" id="264" r:id="R6800edfef1c74c75"/>
    <p:sldId xmlns:r="http://schemas.openxmlformats.org/officeDocument/2006/relationships" id="265" r:id="R6f60240f3a8543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ad752ea9ba4144" /><Relationship Type="http://schemas.openxmlformats.org/officeDocument/2006/relationships/slideMaster" Target="/ppt/slideMasters/slideMaster1.xml" Id="R679c00977b8c48ac" /><Relationship Type="http://schemas.openxmlformats.org/officeDocument/2006/relationships/notesMaster" Target="/ppt/notesMasters/notesMaster1.xml" Id="Rd4b80bed300347ce" /><Relationship Type="http://schemas.openxmlformats.org/officeDocument/2006/relationships/presProps" Target="/ppt/presProps.xml" Id="Rbcd1bbf304dc4871" /><Relationship Type="http://schemas.openxmlformats.org/officeDocument/2006/relationships/tableStyles" Target="/ppt/tableStyles.xml" Id="R2153affce29d4c30" /><Relationship Type="http://schemas.openxmlformats.org/officeDocument/2006/relationships/slide" Target="/ppt/slides/slide1.xml" Id="R9bbed7bee6d34e45" /><Relationship Type="http://schemas.openxmlformats.org/officeDocument/2006/relationships/slide" Target="/ppt/slides/slide2.xml" Id="Rb49e1de019d0429c" /><Relationship Type="http://schemas.openxmlformats.org/officeDocument/2006/relationships/slide" Target="/ppt/slides/slide3.xml" Id="R00f816b430cb4a93" /><Relationship Type="http://schemas.openxmlformats.org/officeDocument/2006/relationships/slide" Target="/ppt/slides/slide4.xml" Id="R4fd2518be25948ab" /><Relationship Type="http://schemas.openxmlformats.org/officeDocument/2006/relationships/slide" Target="/ppt/slides/slide5.xml" Id="R55cf15ff6bf34360" /><Relationship Type="http://schemas.openxmlformats.org/officeDocument/2006/relationships/slide" Target="/ppt/slides/slide6.xml" Id="R727d4b3147214618" /><Relationship Type="http://schemas.openxmlformats.org/officeDocument/2006/relationships/slide" Target="/ppt/slides/slide7.xml" Id="R4f4f6ac534e1412c" /><Relationship Type="http://schemas.openxmlformats.org/officeDocument/2006/relationships/slide" Target="/ppt/slides/slide8.xml" Id="Rf78444a4d0284586" /><Relationship Type="http://schemas.openxmlformats.org/officeDocument/2006/relationships/slide" Target="/ppt/slides/slide9.xml" Id="R6800edfef1c74c75" /><Relationship Type="http://schemas.openxmlformats.org/officeDocument/2006/relationships/slide" Target="/ppt/slides/slide10.xml" Id="R6f60240f3a8543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03c2f5351043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2b866a2c1c417a" /><Relationship Type="http://schemas.openxmlformats.org/officeDocument/2006/relationships/notesMaster" Target="/ppt/notesMasters/notesMaster1.xml" Id="Rd0a2ed6770a241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01de83b4ad4d8c" /><Relationship Type="http://schemas.openxmlformats.org/officeDocument/2006/relationships/notesMaster" Target="/ppt/notesMasters/notesMaster1.xml" Id="R49b89707c52549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d3d2cef60246bf" /><Relationship Type="http://schemas.openxmlformats.org/officeDocument/2006/relationships/notesMaster" Target="/ppt/notesMasters/notesMaster1.xml" Id="R6cd191555daf49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e88f69074a4e2a" /><Relationship Type="http://schemas.openxmlformats.org/officeDocument/2006/relationships/notesMaster" Target="/ppt/notesMasters/notesMaster1.xml" Id="Rd2713e2f680745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1018b6cad744e8" /><Relationship Type="http://schemas.openxmlformats.org/officeDocument/2006/relationships/notesMaster" Target="/ppt/notesMasters/notesMaster1.xml" Id="R964da9a8536946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f7191fa4034af4" /><Relationship Type="http://schemas.openxmlformats.org/officeDocument/2006/relationships/notesMaster" Target="/ppt/notesMasters/notesMaster1.xml" Id="R2bd1e1ed10b144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9e595f2d1a410a" /><Relationship Type="http://schemas.openxmlformats.org/officeDocument/2006/relationships/notesMaster" Target="/ppt/notesMasters/notesMaster1.xml" Id="R01545e7928a04e0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f6ee703ae6f4615" /><Relationship Type="http://schemas.openxmlformats.org/officeDocument/2006/relationships/notesMaster" Target="/ppt/notesMasters/notesMaster1.xml" Id="Rdd60697696d0451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83ee3ed3804ac0" /><Relationship Type="http://schemas.openxmlformats.org/officeDocument/2006/relationships/notesMaster" Target="/ppt/notesMasters/notesMaster1.xml" Id="R2c3601a3b93d4b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f854aac98e4c35" /><Relationship Type="http://schemas.openxmlformats.org/officeDocument/2006/relationships/notesMaster" Target="/ppt/notesMasters/notesMaster1.xml" Id="R8b4c1f031a8741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Название и направление: brand.md, docs/SPEC.md. Стадия: docs/PLAN.md. https://github.com/ernur077sss-art/RoadScan-AI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Задача «Дороги»: https://astanahub.com/ru/l/GTON. Проектная интерпретация задачи и предложенный процесс: https://github.com/ernur077sss-art/RoadScan-AI/blob/main/docs/SPEC.md. Требуемая автопередача в 109 пока не подключена.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Реализованные функции: https://github.com/ernur077sss-art/RoadScan-AI/blob/main/docs/SPEC.md; https://github.com/ernur077sss-art/RoadScan-AI/blob/main/docs/VERIFICATION.md. Скриншот собственного приложения после браузерных тестов 11.10.2026; декоративная карта на главной не отражает обращения.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Реализованный сценарий и ограничения физических устройств: https://github.com/ernur077sss-art/RoadScan-AI/blob/main/docs/VERIFICATION.md. PWA открывается в браузере; нативное приложение не выпущено. Вход без SMS, владение номером не подтверждается.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Скриншот собственного MVP: синтетический браузерный тест 11.10.2026. Все данные, включая 100% и 1 объект на скриншоте, тестовые. Карта: © OpenStreetMap contributors. Функции: https://github.com/ernur077sss-art/RoadScan-AI/blob/main/docs/SPEC.md; https://github.com/ernur077sss-art/RoadScan-AI/blob/main/docs/VERIFICATION.md.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Целевой KPI задачи «Дороги»: https://astanahub.com/ru/l/GTON. Предлагаемое уточнение методики в MVP: https://github.com/ernur077sss-art/RoadScan-AI/blob/main/docs/ARCHITECTURE.md. Порог 90% — целевой, городской результат ещё не измерен; методику нужно согласовать с заказчиком.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Техническая проверка: https://github.com/ernur077sss-art/RoadScan-AI/blob/main/docs/VERIFICATION.md — раздел «Четырёхзначный PIN для жителей». 45 серверных тестов прошли, один PostGIS-тест пропущен локально, 3 браузерных сценария прошли. Это не рыночный трекшен. Постоянный облачный деплой незавершён; временная ссылка зависит от ноутбука. Данные о платящих клиентах и пользовательской аудитории не предоставлены.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команды для пилота; не договорённость с акиматом и не запущенный пилот. Цель G-TON: адаптация MVP под региональную задачу, https://astanahub.com/ru/l/GTON. Целевой KPI и продуктовые ограничения: https://github.com/ernur077sss-art/RoadScan-AI/blob/main/docs/PLAN.md.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Планы, а не реализованные функции. Готовность 109: https://github.com/ernur077sss-art/RoadScan-AI/blob/main/docs/INTEGRATIONS.md. AI, нативные приложения и контроль ремонта пока не реализованы: https://github.com/ernur077sss-art/RoadScan-AI/blob/main/docs/PLAN.md.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Состав команды со слов основателя: основатель/CEO и Битебаев Омаргалы Серикович, помогает проекту. Конкретные функции второго участника и full/part-time ещё не подтверждены. Их опыт, техническая должность и наличие партнёрств не утверждаются. GitHub: https://github.com/ernur077sss-art/RoadScan-AI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ca67f68c934e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140fcade14f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0eeb2a0014c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18f16762c42c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d12a5cfd3f41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33dd8433894e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EC0D70-0BB4-4C8B-A1FD-CA245F4AB5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F4F58EB-E057-4287-BEAB-21568C9F0CC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627631-44A0-44E6-B744-E8C1531BB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000008-4E46-4255-A8D2-B58D6FE3B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F2F3815-0C63-4FD7-AC72-82CE017F50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B7AF7E-F951-48C0-B229-89942672BC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402F5E1-F600-4CB7-A4BE-84E390FAA4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0367D1-10E8-4548-B6B3-D9A2C9F0879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E25838-2678-4DF3-A092-0790C4579C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4AE460-01FB-4D89-83B9-CD1B9C6B2D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7796623bc84ad7" /><Relationship Type="http://schemas.openxmlformats.org/officeDocument/2006/relationships/slideLayout" Target="/ppt/slideLayouts/slideLayout1.xml" Id="R0b1a323031954e1d" /><Relationship Type="http://schemas.openxmlformats.org/officeDocument/2006/relationships/slideLayout" Target="/ppt/slideLayouts/slideLayout2.xml" Id="R7822a63394c94700" /><Relationship Type="http://schemas.openxmlformats.org/officeDocument/2006/relationships/slideLayout" Target="/ppt/slideLayouts/slideLayout3.xml" Id="Rdcd06bb3ca694c1c" /><Relationship Type="http://schemas.openxmlformats.org/officeDocument/2006/relationships/slideLayout" Target="/ppt/slideLayouts/slideLayout4.xml" Id="Rde50a86d6821411f" /><Relationship Type="http://schemas.openxmlformats.org/officeDocument/2006/relationships/slideLayout" Target="/ppt/slideLayouts/slideLayout5.xml" Id="R71179d273ce54e67" /><Relationship Type="http://schemas.openxmlformats.org/officeDocument/2006/relationships/slideLayout" Target="/ppt/slideLayouts/slideLayout6.xml" Id="R39ef8ad4dda149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1a323031954e1d"/>
    <p:sldLayoutId xmlns:r="http://schemas.openxmlformats.org/officeDocument/2006/relationships" id="2147483650" r:id="R7822a63394c94700"/>
    <p:sldLayoutId xmlns:r="http://schemas.openxmlformats.org/officeDocument/2006/relationships" id="2147483651" r:id="Rdcd06bb3ca694c1c"/>
    <p:sldLayoutId xmlns:r="http://schemas.openxmlformats.org/officeDocument/2006/relationships" id="2147483652" r:id="Rde50a86d6821411f"/>
    <p:sldLayoutId xmlns:r="http://schemas.openxmlformats.org/officeDocument/2006/relationships" id="2147483653" r:id="R71179d273ce54e67"/>
    <p:sldLayoutId xmlns:r="http://schemas.openxmlformats.org/officeDocument/2006/relationships" id="2147483654" r:id="R39ef8ad4dda149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89648396a242ff" /><Relationship Type="http://schemas.openxmlformats.org/officeDocument/2006/relationships/notesSlide" Target="/ppt/notesSlides/notesSlide1.xml" Id="Rf79b4190de944e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a3254aa59c4baf" /><Relationship Type="http://schemas.openxmlformats.org/officeDocument/2006/relationships/notesSlide" Target="/ppt/notesSlides/notesSlide2.xml" Id="R8b8f30ca42504c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5d6403c1a049fe" /><Relationship Type="http://schemas.openxmlformats.org/officeDocument/2006/relationships/image" Target="/ppt/media/image.png" Id="R8a329379f3b242f2" /><Relationship Type="http://schemas.openxmlformats.org/officeDocument/2006/relationships/notesSlide" Target="/ppt/notesSlides/notesSlide3.xml" Id="R2ccd45cf1a3d4f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34ae45f7d548ff" /><Relationship Type="http://schemas.openxmlformats.org/officeDocument/2006/relationships/notesSlide" Target="/ppt/notesSlides/notesSlide4.xml" Id="R638582b268d345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d7eac28c4b4f10" /><Relationship Type="http://schemas.openxmlformats.org/officeDocument/2006/relationships/image" Target="/ppt/media/image2.png" Id="R9def6a6e00a24a94" /><Relationship Type="http://schemas.openxmlformats.org/officeDocument/2006/relationships/notesSlide" Target="/ppt/notesSlides/notesSlide5.xml" Id="R7b230bf080c94b3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4f06f8ba7471f" /><Relationship Type="http://schemas.openxmlformats.org/officeDocument/2006/relationships/notesSlide" Target="/ppt/notesSlides/notesSlide6.xml" Id="Rc859f4d5c2c642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a86834a3b44f93" /><Relationship Type="http://schemas.openxmlformats.org/officeDocument/2006/relationships/notesSlide" Target="/ppt/notesSlides/notesSlide7.xml" Id="R94e61fa4f0b443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8e9e6ab3d40d0" /><Relationship Type="http://schemas.openxmlformats.org/officeDocument/2006/relationships/notesSlide" Target="/ppt/notesSlides/notesSlide8.xml" Id="Rbb6f07c30353447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9a63c12f044223" /><Relationship Type="http://schemas.openxmlformats.org/officeDocument/2006/relationships/notesSlide" Target="/ppt/notesSlides/notesSlide9.xml" Id="Rb3531ac6e3e34b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a7f950084a4d84" /><Relationship Type="http://schemas.openxmlformats.org/officeDocument/2006/relationships/hyperlink" Target="https://github.com/ernur077sss-art/RoadScan-AI" TargetMode="External" Id="R8633720fb6704ca0" /><Relationship Type="http://schemas.openxmlformats.org/officeDocument/2006/relationships/notesSlide" Target="/ppt/notesSlides/notesSlide10.xml" Id="Rf7e25c32b47b4f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F5B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D74DF-ACFD-4147-8822-990BF5E7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BDD5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DD5C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D5C1"/>
                </a:solidFill>
                <a:latin typeface="Arial"/>
                <a:ea typeface="Arial"/>
                <a:cs typeface="Arial"/>
              </a:rPr>
              <a:t>ROADSCAN AI · G-TON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11C45-B59C-443A-91C9-007592F5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BDD5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DD5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D5C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F709E-9A4D-40BB-8272-4767D644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477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Народный</a:t>
            </a:r>
          </a:p>
          <a:p xmlns:a="http://schemas.openxmlformats.org/drawingml/2006/main">
            <a:pPr algn="l">
              <a:defRPr sz="6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E40D52-3132-4E28-AC06-E72B2366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Дорожные проблемы —</a:t>
            </a:r>
          </a:p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от сообщения жителя до проверки инспектором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08D4BB-649D-4BAD-B5FD-8693F2E3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34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BDD5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BDD5C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DD5C1"/>
                </a:solidFill>
                <a:latin typeface="Arial"/>
                <a:ea typeface="Arial"/>
                <a:cs typeface="Arial"/>
              </a:rPr>
              <a:t>Работающий MVP  /  Умный город  /  Семей, Казахстан</a:t>
            </a:r>
          </a:p>
        </p:txBody>
      </p:sp>
    </p:spTree>
    <p:extLst>
      <p:ext uri="{BB962C8B-B14F-4D97-AF65-F5344CB8AC3E}">
        <p14:creationId xmlns:p14="http://schemas.microsoft.com/office/powerpoint/2010/main" val="4509657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442C1-E87E-4E9B-A511-E4AF63B2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ПРОБЛЕМА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5AF69-29E2-4AB2-AEAC-AE80ADE1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Дефект должен попасть</a:t>
            </a:r>
          </a:p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на карту и в работу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A8EB1-CC0F-4781-86F4-92281219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858ED-497F-46E5-B8DB-21D47AD7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96507-F8B9-4405-B350-8F4723BE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0505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Позднее выявление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5C451-62B9-48D7-B028-4B9E5ACD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Задача региона — перейти от ручного выявления к фиксации дефектов с местом и материалами.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3495D4-AB8A-49AE-B22A-FA82E786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33775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D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1711AE-C4BE-4802-A2E2-63E6018D2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1DBE1-7B55-4A10-8880-7BAF2347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4810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Обращение должно быть проверяемым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FA263-3192-486C-94C0-C60E2974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Фото или видео, точка на карте и история решений собираются в одной записи.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A93B1B-73EC-43DF-A60E-41E7C9CB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62625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Фокус MVP: участие жителей и обработка сообщений инспектором.</a:t>
            </a:r>
          </a:p>
        </p:txBody>
      </p:sp>
    </p:spTree>
    <p:extLst>
      <p:ext uri="{BB962C8B-B14F-4D97-AF65-F5344CB8AC3E}">
        <p14:creationId xmlns:p14="http://schemas.microsoft.com/office/powerpoint/2010/main" val="3131372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16BC6-088A-4464-897D-45075EDD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6CBEFA-19A8-4E47-ABC2-11B4820A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Одна система для жителя</a:t>
            </a:r>
          </a:p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и инспектора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D59B69-2704-4429-B719-D916A47E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46CD9-FE10-4181-B771-97E1A4313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3175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Житель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96B80-549F-453A-8CED-715C721F8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572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Сообщает о проблеме,</a:t>
            </a:r>
          </a:p>
          <a:p xmlns:a="http://schemas.openxmlformats.org/drawingml/2006/main">
            <a: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прикрепляет материалы</a:t>
            </a:r>
          </a:p>
          <a:p xmlns:a="http://schemas.openxmlformats.org/drawingml/2006/main">
            <a: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и следит за статусом.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E6E66-31C0-4FD3-9231-F49AC9E16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Инспектор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463308-2524-4424-8697-285C7C80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4381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Проверяет обращение,</a:t>
            </a:r>
          </a:p>
          <a:p xmlns:a="http://schemas.openxmlformats.org/drawingml/2006/main">
            <a: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уточняет место и принимает решение.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D38C3E-DB8A-405C-AB50-1C899F1F21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29379f3b242f2"/>
          <a:srcRect xmlns:a="http://schemas.openxmlformats.org/drawingml/2006/main" l="0" t="0" r="0" b="51500"/>
          <a:stretch xmlns:a="http://schemas.openxmlformats.org/drawingml/2006/main"/>
        </p:blipFill>
        <p:spPr>
          <a:xfrm xmlns:a="http://schemas.openxmlformats.org/drawingml/2006/main">
            <a:off x="5514975" y="2190750"/>
            <a:ext cx="6076950" cy="3714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60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D8D753-0EA0-4234-B9ED-4C712E8D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СЦЕНАРИЙ ЖИТЕЛЯ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1F829-6722-4114-8B1B-EEA3CB35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Сообщение с телефона</a:t>
            </a:r>
          </a:p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в несколько шагов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ADE5A-8E9F-4C5C-AEF3-D2898E02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E401FF-F508-46BE-822F-ACC9D1BB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E391B-631C-4643-8442-4DDBBE33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CBDA1-3899-4727-8BFB-9729899A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Вход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CEA262-A30E-4915-8BE8-3409C5CD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Номер телефона</a:t>
            </a:r>
          </a:p>
          <a:p xmlns:a="http://schemas.openxmlformats.org/drawingml/2006/main">
            <a: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и PIN / пароль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FED1C-0571-45BC-A39E-1E25C10E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62225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A202E-CFE0-487A-906B-6BB48033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957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7FA14-6A66-45B3-8883-F4FE23B8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9433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Материалы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C4CB8-145A-40B1-AECC-50BD575A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7200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Фото или короткое</a:t>
            </a:r>
          </a:p>
          <a:p xmlns:a="http://schemas.openxmlformats.org/drawingml/2006/main">
            <a: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видео проблемы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591BE-AB81-4ED8-96E5-B82A4AB5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62225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9480EA-E87D-4B11-AFB7-CB69105B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3AAE18-D607-482F-BA3A-0D8206B5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Место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834A2-33F3-4486-9FAE-242BDDFF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7200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GPS, точка на карте</a:t>
            </a:r>
          </a:p>
          <a:p xmlns:a="http://schemas.openxmlformats.org/drawingml/2006/main">
            <a: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или ориентир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047DA-09AB-4053-AE74-B2AF46F4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62225"/>
            <a:ext cx="95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51022F-3FAF-4673-BAFF-6B071549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9570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051A71-9822-4799-B6A5-117D9C3A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Ответ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FF987F-9706-458E-A869-C12F2619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Статус и уточнения</a:t>
            </a:r>
          </a:p>
          <a:p xmlns:a="http://schemas.openxmlformats.org/drawingml/2006/main">
            <a: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в личном кабинете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A24B8-17B1-44C1-A7F4-C17CF45F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F5B39"/>
                </a:solidFill>
                <a:latin typeface="Arial"/>
                <a:ea typeface="Arial"/>
                <a:cs typeface="Arial"/>
              </a:rPr>
              <a:t>Черновик сохраняется на устройстве; повторная отправка защищена от дублей.</a:t>
            </a:r>
          </a:p>
        </p:txBody>
      </p:sp>
    </p:spTree>
    <p:extLst>
      <p:ext uri="{BB962C8B-B14F-4D97-AF65-F5344CB8AC3E}">
        <p14:creationId xmlns:p14="http://schemas.microsoft.com/office/powerpoint/2010/main" val="90168505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0B0478-9DE9-4FE5-A07C-D7F018C8B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РАБОЧЕЕ МЕСТО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0CA07-1E00-4003-AB4F-B1AE2E66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Инспектор видит</a:t>
            </a:r>
          </a:p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очередь и карту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CAB36-A1D1-491D-BFF2-0FE0F1DE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9FCBA-5928-4147-A52B-2080F6801E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ef6a6e00a24a94"/>
          <a:srcRect xmlns:a="http://schemas.openxmlformats.org/drawingml/2006/main" l="0" t="20900" r="0" b="30200"/>
          <a:stretch xmlns:a="http://schemas.openxmlformats.org/drawingml/2006/main"/>
        </p:blipFill>
        <p:spPr>
          <a:xfrm xmlns:a="http://schemas.openxmlformats.org/drawingml/2006/main">
            <a:off x="533400" y="2276475"/>
            <a:ext cx="7124700" cy="3952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0D0305-2276-4FB6-A0B7-8A44CC2DF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400300"/>
            <a:ext cx="3524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Проверка материалов</a:t>
            </a:r>
          </a:p>
          <a:p xmlns:a="http://schemas.openxmlformats.org/drawingml/2006/main">
            <a: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и уточнение координат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225D0-4AC3-45B2-B19B-A8F3F78C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571875"/>
            <a:ext cx="3524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Подтверждение, отказ</a:t>
            </a:r>
          </a:p>
          <a:p xmlns:a="http://schemas.openxmlformats.org/drawingml/2006/main">
            <a: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и объединение дублей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72EF3-2C02-474E-80FB-1C9A106B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733925"/>
            <a:ext cx="3524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История решений</a:t>
            </a:r>
          </a:p>
          <a:p xmlns:a="http://schemas.openxmlformats.org/drawingml/2006/main">
            <a: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и защита прав доступа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F9C12-5DA9-4FD7-AD85-9956B50BF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293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Экран с тестовыми данными. Показатели на нём не являются результатами городского пилота.</a:t>
            </a:r>
          </a:p>
        </p:txBody>
      </p:sp>
    </p:spTree>
    <p:extLst>
      <p:ext uri="{BB962C8B-B14F-4D97-AF65-F5344CB8AC3E}">
        <p14:creationId xmlns:p14="http://schemas.microsoft.com/office/powerpoint/2010/main" val="63327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4BE17-A387-4CB7-970A-7D43D0E2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КРИТЕРИЙ ПИЛОТА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50191-D21E-40BD-B34E-6D53212C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Геопривязка</a:t>
            </a:r>
          </a:p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подтверждённых дефектов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40665-9D9D-4377-9CDA-1DFE854F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74D77-29FD-46C9-895D-DA20390E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43815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85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85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≥90%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E7AC63-D913-4B83-AD3A-F912568C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цель по геопривязке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ECCC5-65A4-4D7D-AF85-5555E8E5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76500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В числителе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357993-0765-4E9E-B02D-8DA3D1C1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24175"/>
            <a:ext cx="55530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Уникальные подтверждённые дефекты</a:t>
            </a:r>
          </a:p>
          <a:p xmlns:a="http://schemas.openxmlformats.org/drawingml/2006/main">
            <a: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с координатами, проверенными инспектором.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43FE78-B1C6-48F6-8403-E0DE10FC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95750"/>
            <a:ext cx="5486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2F2D39-4990-4F4B-A737-A492143C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391025"/>
            <a:ext cx="542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В знаменателе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18565-DC62-4CD8-9556-CB9F9BC82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829175"/>
            <a:ext cx="55530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Все активные подтверждённые дефекты</a:t>
            </a:r>
          </a:p>
          <a:p xmlns:a="http://schemas.openxmlformats.org/drawingml/2006/main">
            <a:pPr algn="l">
              <a:defRPr sz="1950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за выбранный период, включая объекты без точки.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6E08A-3AD7-484A-9977-2E66749B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62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Порог ещё не подтверждён пилотом. Методика подлежит согласованию с заказчиком.</a:t>
            </a:r>
          </a:p>
        </p:txBody>
      </p:sp>
    </p:spTree>
    <p:extLst>
      <p:ext uri="{BB962C8B-B14F-4D97-AF65-F5344CB8AC3E}">
        <p14:creationId xmlns:p14="http://schemas.microsoft.com/office/powerpoint/2010/main" val="1303126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7A58E-F1F0-438A-8D07-704187A17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ТЕКУЩИЙ ПРОГРЕСС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1EB3B-66CC-4198-8154-2F0A3A20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Работающий MVP.</a:t>
            </a:r>
          </a:p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Внутреннее тестирование.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43370-CC70-4220-84F4-5136BC18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E9FE6-F489-4ADB-B913-768E1199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2762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05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5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DDA7DD-5E9B-4B21-9392-F58273FE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3952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серверных тестов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DC45E-6A82-48C8-BD13-348C6A27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457450"/>
            <a:ext cx="2476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05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705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7E1078-335D-4CDD-AFA8-B284403E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86175"/>
            <a:ext cx="4762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сквозных сценария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FC350C-2C9D-4DCE-8C10-0A1AB6FF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434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Один PostGIS-тест пропущен локально. Проверен путь от отправки обращения до решения инспектора.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3B7927-C5A9-4983-849B-EB473573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5A099A-624B-4B51-855F-CC8886BE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Есть тестовый HTTPS-доступ. Нет подтверждённых данных</a:t>
            </a:r>
          </a:p>
          <a:p xmlns:a="http://schemas.openxmlformats.org/drawingml/2006/main">
            <a:pPr algn="l">
              <a:defRPr sz="1950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о регулярной аудитории, выручке и результатах городского пилота.</a:t>
            </a:r>
          </a:p>
        </p:txBody>
      </p:sp>
    </p:spTree>
    <p:extLst>
      <p:ext uri="{BB962C8B-B14F-4D97-AF65-F5344CB8AC3E}">
        <p14:creationId xmlns:p14="http://schemas.microsoft.com/office/powerpoint/2010/main" val="700082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88DED-C295-4E5C-81D0-72C14233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СЛЕДУЮЩИЙ ЭТАП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602FB2-065B-435B-A7E5-F2FFFA7E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Пилот с жителями</a:t>
            </a:r>
          </a:p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и городским заказчиком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B08913-5BCA-432C-87F4-C5B5A5C2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6B35F-8051-4ABC-9F9A-340D4CF7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616DF-5567-4CD2-93BD-812155E5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9075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Согласовать участок и процесс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4724B1-F325-4DCC-AFAD-8D49E144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676525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Найти ответственного инспектора, определить виды дефектов и правила работы с обращениями.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EB92D4-004C-457A-93C3-1750E483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A69B3-9F28-48E0-80FF-96EB312A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90925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Подготовить и запустить тестирование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975DA6-D50E-4AD5-9C54-F9514123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7670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Завершить постоянный HTTPS-стенд, проверить реальные телефоны и пригласить первых участников.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2C46E4-E287-4FAF-962F-28A6C18F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91100"/>
            <a:ext cx="57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E2606-4807-4772-A3A9-073AC4B2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91100"/>
            <a:ext cx="914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Измерить результат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1CC0B-AB06-4F0C-A2F5-01B50D26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76875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Геопривязка, время до первого решения, доля дублей и обратная связь жителей и инспектора.</a:t>
            </a:r>
          </a:p>
        </p:txBody>
      </p:sp>
    </p:spTree>
    <p:extLst>
      <p:ext uri="{BB962C8B-B14F-4D97-AF65-F5344CB8AC3E}">
        <p14:creationId xmlns:p14="http://schemas.microsoft.com/office/powerpoint/2010/main" val="3378267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7304EC-99AC-49E1-9E3D-33B7982D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ДОРОЖНАЯ КАРТА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A30E67-530A-470E-8779-F9B260A8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Развитие после</a:t>
            </a:r>
          </a:p>
          <a:p xmlns:a="http://schemas.openxmlformats.org/drawingml/2006/main">
            <a:pPr algn="l">
              <a:defRPr sz="3600" b="1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E1A13"/>
                </a:solidFill>
                <a:latin typeface="Arial"/>
                <a:ea typeface="Arial"/>
                <a:cs typeface="Arial"/>
              </a:rPr>
              <a:t>первого пилота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172A2-C9A2-44DA-9FCF-C3E3A890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A6024-497D-451C-B9D6-BE052428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495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Подключение 109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ADD633-CF47-4622-843A-C58F1EE95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10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После получения официального доступа:</a:t>
            </a:r>
          </a:p>
          <a:p xmlns:a="http://schemas.openxmlformats.org/drawingml/2006/main">
            <a: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передача подтверждённых дефектов,</a:t>
            </a:r>
          </a:p>
          <a:p xmlns:a="http://schemas.openxmlformats.org/drawingml/2006/main">
            <a: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квитанции и контроль повторов.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5FD22-25A5-4B37-9F94-158BC9656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6220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2F5B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5B39"/>
                </a:solidFill>
                <a:latin typeface="Arial"/>
                <a:ea typeface="Arial"/>
                <a:cs typeface="Arial"/>
              </a:rPr>
              <a:t>Помощь ИИ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33D00-09F6-4CC2-8957-8805A9B3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05150"/>
            <a:ext cx="5010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После сбора и разметки данных:</a:t>
            </a:r>
          </a:p>
          <a:p xmlns:a="http://schemas.openxmlformats.org/drawingml/2006/main">
            <a: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распознавание дорожных дефектов</a:t>
            </a:r>
          </a:p>
          <a:p xmlns:a="http://schemas.openxmlformats.org/drawingml/2006/main">
            <a:pPr algn="l">
              <a:defRPr sz="2175" b="0">
                <a:solidFill>
                  <a:srgbClr val="1E1A1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E1A13"/>
                </a:solidFill>
                <a:latin typeface="Arial"/>
                <a:ea typeface="Arial"/>
                <a:cs typeface="Arial"/>
              </a:rPr>
              <a:t>с проверкой результатов инспектором.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C72DB-3CAD-4A25-B4B2-F4618E0C0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85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C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0B2951-C140-4C81-AB1D-212D8D21E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76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Сейчас реальная отправка в 109 и распознавание ИИ не работают.</a:t>
            </a:r>
          </a:p>
          <a:p xmlns:a="http://schemas.openxmlformats.org/drawingml/2006/main">
            <a:pPr algn="l">
              <a:defRPr sz="1875" b="0">
                <a:solidFill>
                  <a:srgbClr val="615D5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15D55"/>
                </a:solidFill>
                <a:latin typeface="Arial"/>
                <a:ea typeface="Arial"/>
                <a:cs typeface="Arial"/>
              </a:rPr>
              <a:t>Для пилота остаются задачи по хостингу, устройствам и эксплуатации.</a:t>
            </a:r>
          </a:p>
        </p:txBody>
      </p:sp>
    </p:spTree>
    <p:extLst>
      <p:ext uri="{BB962C8B-B14F-4D97-AF65-F5344CB8AC3E}">
        <p14:creationId xmlns:p14="http://schemas.microsoft.com/office/powerpoint/2010/main" val="19110007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F5B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C7F1ED-CB49-4B29-89EC-2FF16C5F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1">
                <a:solidFill>
                  <a:srgbClr val="BDD5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BDD5C1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DD5C1"/>
                </a:solidFill>
                <a:latin typeface="Arial"/>
                <a:ea typeface="Arial"/>
                <a:cs typeface="Arial"/>
              </a:rPr>
              <a:t>КОМАНДА И ЗАПРОС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6DD9B-28A2-443E-A82F-8583B007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6775"/>
            <a:ext cx="10934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Готовим решение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 совместному пилоту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CACD7-7BE2-4D29-B88F-F7C4DB69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7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BDD5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BDD5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DD5C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3E8A6-68DC-4A54-BEEE-E17F7720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участника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07DE92-2351-4ADD-8A1F-399C4333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287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Основатель — CEO</a:t>
            </a:r>
          </a:p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Омаргалы Битебаев — участник команды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87784-E444-4010-9E0B-BFC1C666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10382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Запрос к программе: городской партнёр, обратная связь</a:t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 процессу инспектора и условия тестового запуска.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18AD3-9271-43B1-988A-287CCCDA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BDD5C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DD5C1"/>
                </a:solidFill>
                <a:latin typeface="Arial"/>
                <a:ea typeface="Arial"/>
                <a:cs typeface="Arial"/>
              </a:defRPr>
            </a:pPr>
            <a:r>
              <a:rPr sz="1800" u="sng">
                <a:solidFill>
                  <a:srgbClr val="BDD5C1"/>
                </a:solidFill>
                <a:latin typeface="Arial"/>
                <a:ea typeface="Arial"/>
                <a:cs typeface="Arial"/>
                <a:hlinkClick xmlns:r="http://schemas.openxmlformats.org/officeDocument/2006/relationships" r:id="R8633720fb6704ca0"/>
              </a:rPr>
              <a:t>Код, документация и ограничения MVP ↗</a:t>
            </a:r>
          </a:p>
        </p:txBody>
      </p:sp>
    </p:spTree>
    <p:extLst>
      <p:ext uri="{BB962C8B-B14F-4D97-AF65-F5344CB8AC3E}">
        <p14:creationId xmlns:p14="http://schemas.microsoft.com/office/powerpoint/2010/main" val="14751898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2026-10-11T15:34:35.7460000Z</dcterms:created>
  <dcterms:modified xsi:type="dcterms:W3CDTF">2026-10-11T15:34:35.7460000Z</dcterms:modified>
</coreProperties>
</file>